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0" r:id="rId2"/>
    <p:sldId id="309" r:id="rId3"/>
    <p:sldId id="322" r:id="rId4"/>
    <p:sldId id="320" r:id="rId5"/>
    <p:sldId id="310" r:id="rId6"/>
    <p:sldId id="311" r:id="rId7"/>
    <p:sldId id="312" r:id="rId8"/>
    <p:sldId id="313" r:id="rId9"/>
    <p:sldId id="314" r:id="rId10"/>
    <p:sldId id="307" r:id="rId11"/>
    <p:sldId id="315" r:id="rId12"/>
    <p:sldId id="317" r:id="rId13"/>
    <p:sldId id="318" r:id="rId14"/>
    <p:sldId id="323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FF6565"/>
    <a:srgbClr val="000000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3834" autoAdjust="0"/>
  </p:normalViewPr>
  <p:slideViewPr>
    <p:cSldViewPr snapToGrid="0">
      <p:cViewPr varScale="1">
        <p:scale>
          <a:sx n="63" d="100"/>
          <a:sy n="63" d="100"/>
        </p:scale>
        <p:origin x="7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0513-74A9-42CE-9805-080885499EC3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81F15-EB55-40DF-A2EE-873A665078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3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988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0763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2881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545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01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5AAEC-4470-4845-AE46-89BA130C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334C9D-98B0-4BA4-AD34-7B354BB1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5A082-75D3-4036-B383-807B8F65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76EBB-196A-42B4-9D7A-DDEB15AD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41BC1A-B4BC-47F0-BC99-E5B6990B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6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C2936-2758-4BDA-93B7-D18A617D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3FBC88-C681-4C6B-9CB7-3B6A2A5F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9ACF2-1C4F-4BFA-840A-735B029F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59479-6C86-46A1-8A7B-766F3037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1FA98-4F7A-4198-9C84-17FB8F1F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56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19F7F-3634-4669-A58A-792C0283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D2ADA8-DA0A-407B-A8EE-27A5B84D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3F33D-3BC1-45EB-9063-8E578CC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B278D-94D0-46B5-9ADB-BE070DF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99168-01C2-4204-80ED-2797DA01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45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2FB06-4B28-4D11-B18D-F6FC34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CBB7C0-6082-49BD-9CBA-37271E004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32DF22-AF08-4260-B488-A6196009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5C6BD-7A81-4492-B47F-4B5A6A9B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AC3C6-0514-4158-A4FF-F95AEDB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9FE79D-2B23-4ACB-84B1-271F7CE3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25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420A4-80D4-4514-91AF-B1A106D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492C0-9657-48F8-85AD-1CA9B035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C719D5-876A-4294-B64D-0D42EDF77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5C189-9A3C-4E76-BAF8-3ED824026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693870-317A-46D2-9988-60A91DAD5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C90A14-31BD-480A-9289-5EAE4776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F540C-9647-4CB4-8627-26FDAD9E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5689C8-F45B-4E63-959E-792CA6F4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2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F3DAE-4CC6-429D-9C2F-3A71AC34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912889-31B5-4CF6-89CD-75DA9D51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5759DC-34F8-46EC-B356-D3AAF4CC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D5ED12-9A4D-47A1-BC16-FE5E9416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87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E2F18F-64C9-41AD-BA28-343E47DC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D796EA-8C49-44AD-AD72-37FC00B4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E027FF-22EE-436A-B215-704F3EAE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80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4E06A-3B06-4145-85C4-2F9721A0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F25C2-C1AE-4912-8A15-82ED6E4C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B9E2F4-2295-4281-A7E3-8C87EF59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0F3391-F424-4380-ACAE-92841749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F67CFE-880C-4B53-9874-C9C3B545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26D88-C1E9-4D20-BD5F-BB4FD3A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38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96F90-5262-4447-B4FF-885FEA2D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C953CB-4A19-44C6-B09B-5982595F3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1493EF-14D4-44EC-BEF5-C2E6E1AC5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8B4948-FC1E-4BE7-9E5E-15A0B008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ECD9D-8956-473F-B71E-C6BF35FA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885F65-D82A-4D9A-898A-3AD1CA9B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5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85E85-4253-42D1-8263-2FF33A97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8A1074-A475-4F4C-8916-DE601565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CC058-C015-4796-BA33-5549475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9EB10-E39A-4BA0-AF73-A5B99103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6D7AC-0097-41F7-B79B-A3A730BB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FFD1DF-E550-4604-8692-0093E1FFC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FDD83-9D08-4480-A2DF-5243C761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DADA8-EA6A-4E88-AD32-0A53DA33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519DE-030E-4F70-AFEF-2F7CEB51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CBC7E-FFF0-498E-9D2B-AA4AD0BF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15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AEED6C-07B3-46E5-8973-C5E57DF3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00E87-E74B-47E0-B627-83979337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059F15-5503-4469-ADF3-FB8DA22DF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EFFF-6B0B-44CE-BE44-9E28E43AA347}" type="datetimeFigureOut">
              <a:rPr kumimoji="1" lang="ja-JP" altLang="en-US" smtClean="0"/>
              <a:t>2024/7/5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96932-B987-4999-BDA0-814D4127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04F7B-2131-4A50-B911-10FBC227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9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大会開催日時・場所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118414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16:30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19:30</a:t>
            </a: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開催場所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理工学部第二校舎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号館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階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ソフトウェア実習室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集合日時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15:30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3ED96F0-F8DC-723A-7011-728BC9DC8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143" y="3749039"/>
            <a:ext cx="5781857" cy="3070719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DE6B57D-493C-6F58-A3F7-BA207DDB4D8A}"/>
              </a:ext>
            </a:extLst>
          </p:cNvPr>
          <p:cNvSpPr/>
          <p:nvPr/>
        </p:nvSpPr>
        <p:spPr>
          <a:xfrm>
            <a:off x="7911431" y="4328160"/>
            <a:ext cx="531529" cy="5408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76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大会ルール①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使用可能言語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644962-F44A-0D73-66BF-28771C79F9A9}"/>
              </a:ext>
            </a:extLst>
          </p:cNvPr>
          <p:cNvSpPr txBox="1"/>
          <p:nvPr/>
        </p:nvSpPr>
        <p:spPr>
          <a:xfrm>
            <a:off x="350540" y="1172337"/>
            <a:ext cx="11490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・使用可能言語は、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C++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Java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Kotlin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Python3</a:t>
            </a:r>
            <a:endParaRPr lang="en-US" altLang="ja-JP" sz="32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D782D9-D7D0-FD04-6E84-77FDBF7C7FBD}"/>
              </a:ext>
            </a:extLst>
          </p:cNvPr>
          <p:cNvSpPr txBox="1"/>
          <p:nvPr/>
        </p:nvSpPr>
        <p:spPr>
          <a:xfrm>
            <a:off x="350539" y="2009228"/>
            <a:ext cx="11490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・問題ごとに使用する言語は変えても構いません。</a:t>
            </a:r>
            <a:endParaRPr lang="en-US" altLang="ja-JP" sz="32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685383-A94D-F471-3BB3-FB68905600B7}"/>
              </a:ext>
            </a:extLst>
          </p:cNvPr>
          <p:cNvSpPr txBox="1"/>
          <p:nvPr/>
        </p:nvSpPr>
        <p:spPr>
          <a:xfrm>
            <a:off x="350538" y="2846119"/>
            <a:ext cx="11490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・ただし、同一問題に対して複数の言語を用いて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実装することは出来ません。</a:t>
            </a:r>
            <a:endParaRPr lang="en-US" altLang="ja-JP" sz="32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891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2976880" y="75389"/>
            <a:ext cx="9054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大会ルール②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閲覧できる情報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644962-F44A-0D73-66BF-28771C79F9A9}"/>
              </a:ext>
            </a:extLst>
          </p:cNvPr>
          <p:cNvSpPr txBox="1"/>
          <p:nvPr/>
        </p:nvSpPr>
        <p:spPr>
          <a:xfrm>
            <a:off x="350540" y="1156288"/>
            <a:ext cx="11681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・大会中問題以外で閲覧できる情報は、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印刷物、言語や開発環境の仕様書、</a:t>
            </a:r>
            <a:endParaRPr lang="en-US" altLang="ja-JP" sz="3600" u="sng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手書きのメモ、書籍、事前設置した電子データのみ</a:t>
            </a:r>
            <a:endParaRPr lang="en-US" altLang="ja-JP" sz="32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685383-A94D-F471-3BB3-FB68905600B7}"/>
              </a:ext>
            </a:extLst>
          </p:cNvPr>
          <p:cNvSpPr txBox="1"/>
          <p:nvPr/>
        </p:nvSpPr>
        <p:spPr>
          <a:xfrm>
            <a:off x="350540" y="3085125"/>
            <a:ext cx="11490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・大会中は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携帯電話、電卓、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USB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などの外部メモリは</a:t>
            </a:r>
            <a:endParaRPr lang="en-US" altLang="ja-JP" sz="3600" u="sng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すべて使用禁止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となっています。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386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大会ルール③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相談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256745" y="1130836"/>
            <a:ext cx="116785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連絡や相談は、自チームのメンバーとのみ可能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です。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endParaRPr lang="en-US" altLang="ja-JP" sz="3600" u="sng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部屋の都合で他のチームと同室ですが、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大会中は他チームと会話しないようお願いします。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816E57-3708-0BA5-AFE5-9DA74B56D0FE}"/>
              </a:ext>
            </a:extLst>
          </p:cNvPr>
          <p:cNvSpPr txBox="1"/>
          <p:nvPr/>
        </p:nvSpPr>
        <p:spPr>
          <a:xfrm>
            <a:off x="256744" y="3105834"/>
            <a:ext cx="11678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・監督にはシステムトラブル関連に限り、相談可能です。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28CDDB-5492-D97B-0825-8D1FCF1601C9}"/>
              </a:ext>
            </a:extLst>
          </p:cNvPr>
          <p:cNvSpPr txBox="1"/>
          <p:nvPr/>
        </p:nvSpPr>
        <p:spPr>
          <a:xfrm>
            <a:off x="258348" y="3972838"/>
            <a:ext cx="11506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大会終了まで、問題文や解答を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自チームのメンバー以外に公表してはいけません。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6952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148080" y="75389"/>
            <a:ext cx="10883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大会ルール④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使用できるリソース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・各チーム使用できる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PC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、マウス、キーボードは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それぞれ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台まで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です。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E3F8D5-F0AF-54B4-2056-68060D03A4A3}"/>
              </a:ext>
            </a:extLst>
          </p:cNvPr>
          <p:cNvSpPr txBox="1"/>
          <p:nvPr/>
        </p:nvSpPr>
        <p:spPr>
          <a:xfrm>
            <a:off x="350540" y="265304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プログラム自動生成のツール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の使用はできません。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5E3726-BF4E-6964-16B8-7C86795AC810}"/>
              </a:ext>
            </a:extLst>
          </p:cNvPr>
          <p:cNvSpPr txBox="1"/>
          <p:nvPr/>
        </p:nvSpPr>
        <p:spPr>
          <a:xfrm>
            <a:off x="350540" y="3534850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ディレクトリ、ファイルの事前用意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はできません。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39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解答提出の方法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350540" y="1057166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①参加者は開始前に、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専用ページから、事前に与えられた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ID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とパスワードを使ってログインしてください。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76F595-FA1D-2080-F971-6A90ED47C7B8}"/>
              </a:ext>
            </a:extLst>
          </p:cNvPr>
          <p:cNvSpPr txBox="1"/>
          <p:nvPr/>
        </p:nvSpPr>
        <p:spPr>
          <a:xfrm>
            <a:off x="350540" y="2846180"/>
            <a:ext cx="11841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②大会が開始されると、専用ページより問題一覧が公開されます。各問題の指示に従って、コーディングを行ってください。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998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解答提出の方法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350540" y="1057166"/>
            <a:ext cx="11841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③与えられた入力データに対し、自分の計算機で実行します。実行後、実行結果とソースプログラムを専用ページから提出してください。なお、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入力データダウンロードから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分以内に提出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するようにしてください。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36D5223-23D9-5A29-7498-6659393565DC}"/>
              </a:ext>
            </a:extLst>
          </p:cNvPr>
          <p:cNvSpPr txBox="1"/>
          <p:nvPr/>
        </p:nvSpPr>
        <p:spPr>
          <a:xfrm>
            <a:off x="350540" y="3795123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④判定結果が正答であれば、次の問題へ進みましょう。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342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提出の結果判定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350540" y="1057166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・各問題では、与えられる入力データが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4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つ存在します。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76F595-FA1D-2080-F971-6A90ED47C7B8}"/>
              </a:ext>
            </a:extLst>
          </p:cNvPr>
          <p:cNvSpPr txBox="1"/>
          <p:nvPr/>
        </p:nvSpPr>
        <p:spPr>
          <a:xfrm>
            <a:off x="350540" y="1778886"/>
            <a:ext cx="11841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「ダウンロードから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分以内にその入力データで正答した」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ことを以て、その問題自体の判定を正答とされます。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67E0492-6CFF-E511-3157-6F8B600B8853}"/>
              </a:ext>
            </a:extLst>
          </p:cNvPr>
          <p:cNvSpPr txBox="1"/>
          <p:nvPr/>
        </p:nvSpPr>
        <p:spPr>
          <a:xfrm>
            <a:off x="350540" y="3608601"/>
            <a:ext cx="11841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・上記のルール上、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「ダウンロードから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分以内の正答ができない」状態が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4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回続く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と、入力データが無くなるため、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その問題を二度と回答することができなくなります。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632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提出の結果判定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350540" y="1057166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・誤答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回につき、ペナルティとして所要時間に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20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分間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が加えられます。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B0E64A-3103-5F0B-09DA-8383C88A2CAE}"/>
              </a:ext>
            </a:extLst>
          </p:cNvPr>
          <p:cNvSpPr txBox="1"/>
          <p:nvPr/>
        </p:nvSpPr>
        <p:spPr>
          <a:xfrm>
            <a:off x="350540" y="2490364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・順位は正答した問題数の多さで決まります。同数の場合、正答までに掛かった所要時間で決まります。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A406BC-7BDB-4CD9-1BBC-9DD83CD5A357}"/>
              </a:ext>
            </a:extLst>
          </p:cNvPr>
          <p:cNvSpPr txBox="1"/>
          <p:nvPr/>
        </p:nvSpPr>
        <p:spPr>
          <a:xfrm>
            <a:off x="362304" y="3923562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・制限時間内に正答できなかった問題に関しては、ペナルティは不問とします。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067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表彰について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026686"/>
            <a:ext cx="114909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優勝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		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図書カード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3000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</a:p>
          <a:p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準優勝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図書カード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2000</a:t>
            </a:r>
            <a:r>
              <a:rPr lang="ja-JP" altLang="en-US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</a:t>
            </a:r>
            <a:r>
              <a:rPr lang="en-US" altLang="ja-JP" sz="3600" dirty="0">
                <a:solidFill>
                  <a:srgbClr val="00B0F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</a:p>
          <a:p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明治大学内における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位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図書カード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1000</a:t>
            </a:r>
            <a:r>
              <a:rPr lang="ja-JP" altLang="en-US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円分</a:t>
            </a:r>
            <a:r>
              <a:rPr lang="en-US" altLang="ja-JP" sz="3600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×3</a:t>
            </a:r>
          </a:p>
          <a:p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ピタリ賞</a:t>
            </a:r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全体</a:t>
            </a:r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363</a:t>
            </a:r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チーム順位予想が最も近いチーム</a:t>
            </a:r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lang="en-US" altLang="ja-JP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		</a:t>
            </a:r>
            <a:r>
              <a:rPr lang="ja-JP" altLang="en-US" sz="3600" dirty="0">
                <a:solidFill>
                  <a:srgbClr val="9966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当日のお楽しみ</a:t>
            </a:r>
            <a:endParaRPr lang="en-US" altLang="ja-JP" sz="3600" dirty="0">
              <a:solidFill>
                <a:srgbClr val="9966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A451C43-8760-4C34-B4B5-789A1981543F}"/>
              </a:ext>
            </a:extLst>
          </p:cNvPr>
          <p:cNvSpPr txBox="1"/>
          <p:nvPr/>
        </p:nvSpPr>
        <p:spPr>
          <a:xfrm>
            <a:off x="350539" y="5552000"/>
            <a:ext cx="11490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但し、副賞授与は最低</a:t>
            </a:r>
            <a:r>
              <a:rPr lang="en-US" altLang="ja-JP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問正答したこと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</a:t>
            </a:r>
            <a:r>
              <a:rPr lang="ja-JP" altLang="en-US" sz="24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条件です。</a:t>
            </a:r>
            <a:endParaRPr lang="en-US" altLang="ja-JP" sz="2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ピタリ賞は</a:t>
            </a:r>
            <a:r>
              <a:rPr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チーム以上発生した場合、より順位の高いチームに授与します。</a:t>
            </a:r>
            <a:endParaRPr lang="en-US" altLang="ja-JP" sz="24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425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監督・コーチ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紹介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B0E64A-3103-5F0B-09DA-8383C88A2CAE}"/>
              </a:ext>
            </a:extLst>
          </p:cNvPr>
          <p:cNvSpPr txBox="1"/>
          <p:nvPr/>
        </p:nvSpPr>
        <p:spPr>
          <a:xfrm>
            <a:off x="350540" y="1402786"/>
            <a:ext cx="11841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監督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】</a:t>
            </a: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・松田匠未 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先生　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知能ロボットシステム研究室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・宮島敬明 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先生　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高性能並列計算機システム研究室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E53E5E-14C6-E61F-A4A1-1FEB888006C9}"/>
              </a:ext>
            </a:extLst>
          </p:cNvPr>
          <p:cNvSpPr txBox="1"/>
          <p:nvPr/>
        </p:nvSpPr>
        <p:spPr>
          <a:xfrm>
            <a:off x="350540" y="3888048"/>
            <a:ext cx="11841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コーチ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】</a:t>
            </a: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・加藤志門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先輩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情報科学専攻情報科学科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年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	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情報セキュリティ研究室所属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4557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協賛紹介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B0E64A-3103-5F0B-09DA-8383C88A2CAE}"/>
              </a:ext>
            </a:extLst>
          </p:cNvPr>
          <p:cNvSpPr txBox="1"/>
          <p:nvPr/>
        </p:nvSpPr>
        <p:spPr>
          <a:xfrm>
            <a:off x="421660" y="351336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・向井秀夫 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先生　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脳知能学研究室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B8D826-15C7-CD90-6A8E-B6C58E7122A0}"/>
              </a:ext>
            </a:extLst>
          </p:cNvPr>
          <p:cNvSpPr txBox="1"/>
          <p:nvPr/>
        </p:nvSpPr>
        <p:spPr>
          <a:xfrm>
            <a:off x="421660" y="4715620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・横山大作 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先生　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知的情報処理システム研究室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F1A7AD-6866-F430-EDA1-3A95C9900807}"/>
              </a:ext>
            </a:extLst>
          </p:cNvPr>
          <p:cNvSpPr txBox="1"/>
          <p:nvPr/>
        </p:nvSpPr>
        <p:spPr>
          <a:xfrm>
            <a:off x="421660" y="1108864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・早川智一 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先生　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ソフトウェア工学研究室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0A0AFE-2989-A884-70B0-BA756DEAF8CA}"/>
              </a:ext>
            </a:extLst>
          </p:cNvPr>
          <p:cNvSpPr txBox="1"/>
          <p:nvPr/>
        </p:nvSpPr>
        <p:spPr>
          <a:xfrm>
            <a:off x="421660" y="2311116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・宮本龍介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先生　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画像応用システム研究室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998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監督・協賛・コーチの皆様へ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102188-87B7-B432-CA0A-02566D238729}"/>
              </a:ext>
            </a:extLst>
          </p:cNvPr>
          <p:cNvSpPr txBox="1"/>
          <p:nvPr/>
        </p:nvSpPr>
        <p:spPr>
          <a:xfrm>
            <a:off x="190119" y="2828835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活動へのご理解、ご協力頂きありがとうございます。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この場をお借りして、御礼申し上げます。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0014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最終確認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102188-87B7-B432-CA0A-02566D238729}"/>
              </a:ext>
            </a:extLst>
          </p:cNvPr>
          <p:cNvSpPr txBox="1"/>
          <p:nvPr/>
        </p:nvSpPr>
        <p:spPr>
          <a:xfrm>
            <a:off x="175270" y="1650275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これより監督員の先生による最終確認を行います。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許可されていない物は、全てカバンにしまうこと！</a:t>
            </a:r>
            <a:endParaRPr lang="en-US" altLang="ja-JP" sz="36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BDC733-499F-BD19-7EE4-245A331F9DEF}"/>
              </a:ext>
            </a:extLst>
          </p:cNvPr>
          <p:cNvSpPr txBox="1"/>
          <p:nvPr/>
        </p:nvSpPr>
        <p:spPr>
          <a:xfrm>
            <a:off x="175270" y="4639102"/>
            <a:ext cx="118414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u="sng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今回の</a:t>
            </a:r>
            <a:r>
              <a:rPr lang="en-US" altLang="ja-JP" sz="4000" u="sng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lang="ja-JP" altLang="en-US" sz="4000" u="sng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提出フォームは以下です</a:t>
            </a:r>
            <a:endParaRPr lang="en-US" altLang="ja-JP" sz="4000" u="sng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endParaRPr lang="en-US" altLang="ja-JP" sz="4000" u="sng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2000" b="1" kern="100" dirty="0">
                <a:effectLst/>
                <a:latin typeface="Consolas" panose="020B0609020204030204" pitchFamily="49" charset="0"/>
                <a:ea typeface="ＭＳ Ｐ明朝" panose="02020600040205080304" pitchFamily="18" charset="-128"/>
                <a:cs typeface="Times New Roman" panose="02020603050405020304" pitchFamily="18" charset="0"/>
              </a:rPr>
              <a:t>https://icpc.yamagula.ic.i.u-tokyo.ac.jp/icpcdomestic/common/login_en.php</a:t>
            </a:r>
            <a:endParaRPr lang="ja-JP" altLang="ja-JP" sz="2000" b="1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40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3055</TotalTime>
  <Words>844</Words>
  <Application>Microsoft Office PowerPoint</Application>
  <PresentationFormat>ワイド画面</PresentationFormat>
  <Paragraphs>82</Paragraphs>
  <Slides>14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ＭＳ ゴシック</vt:lpstr>
      <vt:lpstr>游ゴシック</vt:lpstr>
      <vt:lpstr>游ゴシック Light</vt:lpstr>
      <vt:lpstr>游明朝</vt:lpstr>
      <vt:lpstr>Arial</vt:lpstr>
      <vt:lpstr>Consolas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西郷 智博</dc:creator>
  <cp:lastModifiedBy>智博 西郷</cp:lastModifiedBy>
  <cp:revision>56</cp:revision>
  <dcterms:created xsi:type="dcterms:W3CDTF">2021-12-06T17:38:20Z</dcterms:created>
  <dcterms:modified xsi:type="dcterms:W3CDTF">2024-07-05T05:28:08Z</dcterms:modified>
</cp:coreProperties>
</file>