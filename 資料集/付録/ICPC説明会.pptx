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90" r:id="rId3"/>
    <p:sldId id="323" r:id="rId4"/>
    <p:sldId id="325" r:id="rId5"/>
    <p:sldId id="327" r:id="rId6"/>
    <p:sldId id="329" r:id="rId8"/>
    <p:sldId id="330" r:id="rId9"/>
    <p:sldId id="331" r:id="rId10"/>
    <p:sldId id="332" r:id="rId11"/>
    <p:sldId id="314" r:id="rId12"/>
    <p:sldId id="334" r:id="rId13"/>
    <p:sldId id="335" r:id="rId14"/>
    <p:sldId id="300" r:id="rId15"/>
    <p:sldId id="308" r:id="rId16"/>
    <p:sldId id="333" r:id="rId17"/>
    <p:sldId id="307" r:id="rId18"/>
    <p:sldId id="318" r:id="rId19"/>
    <p:sldId id="316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FF"/>
    <a:srgbClr val="FF6565"/>
    <a:srgbClr val="000000"/>
    <a:srgbClr val="FFFF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9" autoAdjust="0"/>
    <p:restoredTop sz="93834" autoAdjust="0"/>
  </p:normalViewPr>
  <p:slideViewPr>
    <p:cSldViewPr snapToGrid="0">
      <p:cViewPr varScale="1">
        <p:scale>
          <a:sx n="63" d="100"/>
          <a:sy n="63" d="100"/>
        </p:scale>
        <p:origin x="7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60513-74A9-42CE-9805-080885499EC3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81F15-EB55-40DF-A2EE-873A6650784F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2EFFF-6B0B-44CE-BE44-9E28E43AA34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A229C-ECA4-43EE-BE05-DC439F7ADD51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718862" y="796282"/>
            <a:ext cx="10754276" cy="36317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5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ea typeface="ＭＳ ゴシック" panose="020B0609070205080204" pitchFamily="49" charset="-128"/>
              </a:rPr>
              <a:t>ICPC2024</a:t>
            </a:r>
            <a:endParaRPr lang="en-US" altLang="ja-JP" sz="11500" b="1" dirty="0">
              <a:ln w="0">
                <a:solidFill>
                  <a:schemeClr val="tx1"/>
                </a:solidFill>
              </a:ln>
              <a:solidFill>
                <a:srgbClr val="FF0000"/>
              </a:solidFill>
              <a:latin typeface="Arial Black" panose="020B0A04020102020204" pitchFamily="34" charset="0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sz="11500" b="1" dirty="0">
                <a:ln w="0">
                  <a:solidFill>
                    <a:schemeClr val="tx1"/>
                  </a:solidFill>
                </a:ln>
                <a:solidFill>
                  <a:srgbClr val="FFC000"/>
                </a:solidFill>
                <a:latin typeface="Arial Black" panose="020B0A04020102020204" pitchFamily="34" charset="0"/>
                <a:ea typeface="ＭＳ ゴシック" panose="020B0609070205080204" pitchFamily="49" charset="-128"/>
              </a:rPr>
              <a:t>大会参加説明会</a:t>
            </a:r>
            <a:endParaRPr lang="en-US" altLang="ja-JP" sz="11500" b="1" dirty="0">
              <a:ln w="0">
                <a:solidFill>
                  <a:schemeClr val="tx1"/>
                </a:solidFill>
              </a:ln>
              <a:solidFill>
                <a:srgbClr val="FFC000"/>
              </a:solidFill>
              <a:latin typeface="Arial Black" panose="020B0A04020102020204" pitchFamily="34" charset="0"/>
              <a:ea typeface="ＭＳ ゴシック" panose="020B0609070205080204" pitchFamily="49" charset="-128"/>
            </a:endParaRP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2758440" y="4428045"/>
            <a:ext cx="667512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6600" dirty="0">
                <a:ln>
                  <a:solidFill>
                    <a:sysClr val="windowText" lastClr="000000"/>
                  </a:solidFill>
                </a:ln>
                <a:solidFill>
                  <a:srgbClr val="00B0F0"/>
                </a:solidFill>
                <a:latin typeface="Arial Black" panose="020B0A04020102020204" pitchFamily="34" charset="0"/>
              </a:rPr>
              <a:t>(2024/06/0</a:t>
            </a:r>
            <a:r>
              <a:rPr lang="en-US" altLang="ja-JP" sz="6600" dirty="0">
                <a:ln>
                  <a:solidFill>
                    <a:sysClr val="windowText" lastClr="000000"/>
                  </a:solidFill>
                </a:ln>
                <a:solidFill>
                  <a:srgbClr val="00B0F0"/>
                </a:solidFill>
                <a:latin typeface="Arial Black" panose="020B0A04020102020204" pitchFamily="34" charset="0"/>
              </a:rPr>
              <a:t>6</a:t>
            </a:r>
            <a:r>
              <a:rPr kumimoji="1" lang="en-US" altLang="ja-JP" sz="6600" dirty="0">
                <a:ln>
                  <a:solidFill>
                    <a:sysClr val="windowText" lastClr="000000"/>
                  </a:solidFill>
                </a:ln>
                <a:solidFill>
                  <a:srgbClr val="00B0F0"/>
                </a:solidFill>
                <a:latin typeface="Arial Black" panose="020B0A04020102020204" pitchFamily="34" charset="0"/>
              </a:rPr>
              <a:t>)</a:t>
            </a:r>
            <a:endParaRPr kumimoji="1" lang="en-US" sz="6600" dirty="0">
              <a:ln>
                <a:solidFill>
                  <a:sysClr val="windowText" lastClr="000000"/>
                </a:solidFill>
              </a:ln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739150" y="1859339"/>
            <a:ext cx="107137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6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そもそも</a:t>
            </a:r>
            <a:endParaRPr lang="en-US" altLang="ja-JP" sz="6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sz="66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競技プログラミング</a:t>
            </a:r>
            <a:endParaRPr lang="en-US" altLang="ja-JP" sz="6600" b="1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sz="6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って何？</a:t>
            </a:r>
            <a:endParaRPr lang="en-US" altLang="ja-JP" sz="60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競技プログラミングとは</a:t>
            </a:r>
            <a:endParaRPr kumimoji="1" lang="ja-JP" altLang="en-US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50540" y="1217248"/>
            <a:ext cx="1184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・参加者全員に同一の問題が出され、制限時間内に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問題の要件を満たすようなプログラムを書いていく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50540" y="2787529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・解けた問題の多さ、解くのに掛かった時間で競う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350540" y="3803812"/>
            <a:ext cx="1184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・問題に使うアルゴリズムを素早く組み立てる力、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正確に実装する力が求められる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例題</a:t>
            </a:r>
            <a:endParaRPr kumimoji="1" lang="ja-JP" altLang="en-US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50540" y="1192465"/>
            <a:ext cx="1184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正の整数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が入力される。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 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≦ 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 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≦ 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10000)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から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までの総和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S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を求め、出力するプログラムを書け。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50540" y="2775137"/>
            <a:ext cx="1184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【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入力形式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】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50540" y="4357809"/>
            <a:ext cx="1184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【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出力形式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】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S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6685280" y="1941391"/>
            <a:ext cx="5191780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sz="2400" dirty="0">
                <a:latin typeface="Consolas" panose="020B0609020204030204" pitchFamily="49" charset="0"/>
              </a:rPr>
              <a:t>#include &lt;</a:t>
            </a:r>
            <a:r>
              <a:rPr kumimoji="1" lang="en-US" sz="2400" dirty="0" err="1">
                <a:latin typeface="Consolas" panose="020B0609020204030204" pitchFamily="49" charset="0"/>
              </a:rPr>
              <a:t>stdio.h</a:t>
            </a:r>
            <a:r>
              <a:rPr kumimoji="1" lang="en-US" sz="2400" dirty="0">
                <a:latin typeface="Consolas" panose="020B0609020204030204" pitchFamily="49" charset="0"/>
              </a:rPr>
              <a:t>&gt;</a:t>
            </a:r>
            <a:endParaRPr kumimoji="1"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int main(void) {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kumimoji="1" lang="en-US" sz="2400" dirty="0">
                <a:latin typeface="Consolas" panose="020B0609020204030204" pitchFamily="49" charset="0"/>
              </a:rPr>
              <a:t>	int n, sum;</a:t>
            </a:r>
            <a:endParaRPr kumimoji="1"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</a:t>
            </a:r>
            <a:r>
              <a:rPr lang="en-US" sz="2400" dirty="0" err="1">
                <a:latin typeface="Consolas" panose="020B0609020204030204" pitchFamily="49" charset="0"/>
              </a:rPr>
              <a:t>scanf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altLang="ja-JP" sz="2400" dirty="0">
                <a:latin typeface="Consolas" panose="020B0609020204030204" pitchFamily="49" charset="0"/>
              </a:rPr>
              <a:t>"%d", &amp;n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sum = n * (n + 1) / 2;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</a:t>
            </a:r>
            <a:r>
              <a:rPr lang="en-US" sz="2400" dirty="0" err="1">
                <a:latin typeface="Consolas" panose="020B0609020204030204" pitchFamily="49" charset="0"/>
              </a:rPr>
              <a:t>printf</a:t>
            </a:r>
            <a:r>
              <a:rPr lang="en-US" altLang="ja-JP" sz="2400" dirty="0">
                <a:latin typeface="Consolas" panose="020B0609020204030204" pitchFamily="49" charset="0"/>
              </a:rPr>
              <a:t>("%d\n", sum);</a:t>
            </a:r>
            <a:endParaRPr lang="en-US" altLang="ja-JP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return 0;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314940" y="1941391"/>
            <a:ext cx="5191780" cy="42566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sz="2400" dirty="0">
                <a:latin typeface="Consolas" panose="020B0609020204030204" pitchFamily="49" charset="0"/>
              </a:rPr>
              <a:t>#include &lt;</a:t>
            </a:r>
            <a:r>
              <a:rPr kumimoji="1" lang="en-US" sz="2400" dirty="0" err="1">
                <a:latin typeface="Consolas" panose="020B0609020204030204" pitchFamily="49" charset="0"/>
              </a:rPr>
              <a:t>stdio.h</a:t>
            </a:r>
            <a:r>
              <a:rPr kumimoji="1" lang="en-US" sz="2400" dirty="0">
                <a:latin typeface="Consolas" panose="020B0609020204030204" pitchFamily="49" charset="0"/>
              </a:rPr>
              <a:t>&gt;</a:t>
            </a:r>
            <a:endParaRPr kumimoji="1"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int main(void) {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kumimoji="1" lang="en-US" sz="2400" dirty="0">
                <a:latin typeface="Consolas" panose="020B0609020204030204" pitchFamily="49" charset="0"/>
              </a:rPr>
              <a:t>	int n, </a:t>
            </a:r>
            <a:r>
              <a:rPr kumimoji="1" lang="en-US" sz="2400" dirty="0" err="1">
                <a:latin typeface="Consolas" panose="020B0609020204030204" pitchFamily="49" charset="0"/>
              </a:rPr>
              <a:t>i</a:t>
            </a:r>
            <a:r>
              <a:rPr kumimoji="1" lang="en-US" sz="2400" dirty="0">
                <a:latin typeface="Consolas" panose="020B0609020204030204" pitchFamily="49" charset="0"/>
              </a:rPr>
              <a:t>;</a:t>
            </a:r>
            <a:endParaRPr kumimoji="1"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int sum = 0;</a:t>
            </a:r>
            <a:endParaRPr kumimoji="1"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</a:t>
            </a:r>
            <a:r>
              <a:rPr lang="en-US" sz="2400" dirty="0" err="1">
                <a:latin typeface="Consolas" panose="020B0609020204030204" pitchFamily="49" charset="0"/>
              </a:rPr>
              <a:t>scanf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altLang="ja-JP" sz="2400" dirty="0">
                <a:latin typeface="Consolas" panose="020B0609020204030204" pitchFamily="49" charset="0"/>
              </a:rPr>
              <a:t>"%d", &amp;n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for (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=1; 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&lt;=n; 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++) {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	sum = sum + 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}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</a:t>
            </a:r>
            <a:r>
              <a:rPr lang="en-US" sz="2400" dirty="0" err="1">
                <a:latin typeface="Consolas" panose="020B0609020204030204" pitchFamily="49" charset="0"/>
              </a:rPr>
              <a:t>printf</a:t>
            </a:r>
            <a:r>
              <a:rPr lang="en-US" altLang="ja-JP" sz="2400" dirty="0">
                <a:latin typeface="Consolas" panose="020B0609020204030204" pitchFamily="49" charset="0"/>
              </a:rPr>
              <a:t>("%d\n", sum);</a:t>
            </a:r>
            <a:endParaRPr lang="en-US" altLang="ja-JP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return 0;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  <a:endParaRPr kumimoji="1" lang="en-US" sz="2400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テキスト ボックス 2">
                <a:extLst>
                  <a:ext uri="{FF2B5EF4-FFF2-40B4-BE49-F238E27FC236}">
                    <a14:artisticCrisscrossEtching id="{D85107F9-2E4E-A09A-D768-9583D67B3588}"/>
                  </a:ext>
                </a:extLst>
              </p:cNvPr>
              <p:cNvSpPr txBox="1"/>
              <p:nvPr/>
            </p:nvSpPr>
            <p:spPr>
              <a:xfrm>
                <a:off x="1005830" y="254000"/>
                <a:ext cx="3810000" cy="1436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US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sz="3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kumimoji="1"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nary>
                    </m:oMath>
                  </m:oMathPara>
                </a14:m>
                <a:endParaRPr kumimoji="1" lang="en-US" sz="3200" dirty="0"/>
              </a:p>
            </p:txBody>
          </p:sp>
        </mc:Choice>
        <mc:Fallback>
          <p:sp>
            <p:nvSpPr>
              <p:cNvPr id="3" name="テキスト ボックス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30" y="254000"/>
                <a:ext cx="3810000" cy="143667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4:artisticCrisscrossEtching id="{85DFC239-F188-E5A7-D18F-FC3101A381E0}"/>
                  </a:ext>
                </a:extLst>
              </p:cNvPr>
              <p:cNvSpPr txBox="1"/>
              <p:nvPr/>
            </p:nvSpPr>
            <p:spPr>
              <a:xfrm>
                <a:off x="7376172" y="458766"/>
                <a:ext cx="3810000" cy="1027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sz="32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kumimoji="1"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en-US" sz="3200" dirty="0"/>
              </a:p>
            </p:txBody>
          </p:sp>
        </mc:Choice>
        <mc:Fallback>
          <p:sp>
            <p:nvSpPr>
              <p:cNvPr id="5" name="テキスト ボックス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172" y="458766"/>
                <a:ext cx="3810000" cy="102714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競プロ</a:t>
            </a:r>
            <a:r>
              <a:rPr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の楽しさ</a:t>
            </a:r>
            <a:endParaRPr kumimoji="1" lang="en-US" altLang="ja-JP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50540" y="1217248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・コーディングに対する抵抗をなくせる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50540" y="2200288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・順位やレートで自分の実力が数字になって出る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350540" y="3183328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・人脈の形成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50540" y="4166368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・就活や研究室面談に使える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ICPC</a:t>
            </a:r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とは</a:t>
            </a:r>
            <a:endParaRPr kumimoji="1" lang="ja-JP" altLang="en-US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50540" y="1217248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・国際大学対抗プログラミングコンテストの略</a:t>
            </a:r>
            <a:endParaRPr lang="en-US" altLang="ja-JP" sz="32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50540" y="2099050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・同大学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大学院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の三人一組のチームによる対抗戦</a:t>
            </a:r>
            <a:endParaRPr lang="en-US" altLang="ja-JP" sz="32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50540" y="2980852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・成績上位のチームは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10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月のアジア予選へ招待</a:t>
            </a:r>
            <a:endParaRPr lang="en-US" altLang="ja-JP" sz="32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50540" y="3862654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・昨年明治からは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7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チーム出場、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チームアジア予選進出</a:t>
            </a:r>
            <a:endParaRPr lang="en-US" altLang="ja-JP" sz="32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ICPC</a:t>
            </a:r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のルール</a:t>
            </a:r>
            <a:endParaRPr kumimoji="1" lang="ja-JP" altLang="en-US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50540" y="1217248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・各チーム使っていい計算機は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台まで</a:t>
            </a:r>
            <a:endParaRPr lang="en-US" altLang="ja-JP" sz="32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50540" y="2912291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・手書きメモ、書籍、印刷物、言語仕様書は持ち込み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OK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50540" y="3759812"/>
            <a:ext cx="1184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・携帯電話や電卓等の電子機器、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USB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等の外部メモリ、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大会システム以外のインターネット通信は使用不可</a:t>
            </a:r>
            <a:endParaRPr lang="en-US" altLang="ja-JP" sz="32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50540" y="2064769"/>
            <a:ext cx="114909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・使用可能言語は、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C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C++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Java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Kotlin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Python</a:t>
            </a:r>
            <a:endParaRPr lang="en-US" altLang="ja-JP" sz="32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350540" y="6008852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・大会中の相談、解答の共有はチームメンバーのみ</a:t>
            </a:r>
            <a:endParaRPr lang="en-US" altLang="ja-JP" sz="32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350540" y="5161331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・生成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AI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をはじめとした自動生成は禁止</a:t>
            </a:r>
            <a:endParaRPr lang="en-US" altLang="ja-JP" sz="32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ICPC</a:t>
            </a:r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のルール</a:t>
            </a:r>
            <a:endParaRPr kumimoji="1" lang="ja-JP" altLang="en-US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50540" y="1067326"/>
            <a:ext cx="1184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・誤答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回につき、ペナルティとして所要時間に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</a:t>
            </a:r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20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分間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が加えられます</a:t>
            </a:r>
            <a:endParaRPr lang="en-US" altLang="ja-JP" sz="3600" u="sng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350540" y="2495444"/>
            <a:ext cx="1184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・順位は正答した問題数の多さで決まります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同数の場合、正答までに掛かった所要時間で決定</a:t>
            </a:r>
            <a:endParaRPr lang="en-US" altLang="ja-JP" sz="3600" u="sng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350540" y="3923562"/>
            <a:ext cx="1184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・制限時間内に正答できなかった問題に関しては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ペナルティは不問となります</a:t>
            </a:r>
            <a:endParaRPr lang="en-US" altLang="ja-JP" sz="3600" u="sng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ICPC</a:t>
            </a:r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のルール</a:t>
            </a:r>
            <a:endParaRPr kumimoji="1" lang="ja-JP" altLang="en-US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50540" y="1067326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・問題は全部で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9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問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昨年より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問増加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lang="en-US" altLang="ja-JP" sz="3600" u="sng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350540" y="1943938"/>
            <a:ext cx="1184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・簡単な問題が増える予定のため、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初学者の皆さんでも複数問解けるチャンス！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350540" y="3374548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・昨年度の最初の問題を見てみよう→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74507"/>
            <a:ext cx="12192000" cy="50619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大会開催日時・場所</a:t>
            </a:r>
            <a:endParaRPr kumimoji="1" lang="ja-JP" altLang="en-US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50540" y="1217248"/>
            <a:ext cx="118414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開催日時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: 7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月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5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日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金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 16:30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～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19:30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開催場所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: 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理工学部第二校舎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6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号館 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3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階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　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ハードウェア実習室、ソフトウェア実習室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集合日時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: 7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月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5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日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金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 15:30</a:t>
            </a:r>
            <a:endParaRPr lang="en-US" altLang="ja-JP" sz="32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0143" y="3749039"/>
            <a:ext cx="5781857" cy="3070719"/>
          </a:xfrm>
          <a:prstGeom prst="rect">
            <a:avLst/>
          </a:prstGeom>
        </p:spPr>
      </p:pic>
      <p:sp>
        <p:nvSpPr>
          <p:cNvPr id="11" name="四角形: 角を丸くする 10"/>
          <p:cNvSpPr/>
          <p:nvPr/>
        </p:nvSpPr>
        <p:spPr>
          <a:xfrm>
            <a:off x="7911431" y="4328160"/>
            <a:ext cx="531529" cy="54087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大会開催日時・場所</a:t>
            </a:r>
            <a:endParaRPr kumimoji="1" lang="ja-JP" altLang="en-US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50540" y="1217248"/>
            <a:ext cx="118414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ja-JP" altLang="en-US" sz="3600" u="sng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当日は</a:t>
            </a:r>
            <a:r>
              <a:rPr lang="en-US" altLang="ja-JP" sz="3600" u="sng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15:30</a:t>
            </a:r>
            <a:r>
              <a:rPr lang="ja-JP" altLang="en-US" sz="3600" u="sng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までに、</a:t>
            </a:r>
            <a:r>
              <a:rPr lang="en-US" altLang="ja-JP" sz="3600" u="sng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6</a:t>
            </a:r>
            <a:r>
              <a:rPr lang="ja-JP" altLang="en-US" sz="3600" u="sng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号館</a:t>
            </a:r>
            <a:r>
              <a:rPr lang="en-US" altLang="ja-JP" sz="3600" u="sng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3</a:t>
            </a:r>
            <a:r>
              <a:rPr lang="ja-JP" altLang="en-US" sz="3600" u="sng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階までお越しください。</a:t>
            </a:r>
            <a:endParaRPr lang="en-US" altLang="ja-JP" sz="3600" u="sng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なお、大会開始前に準備があるので、余裕をもって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集合していただくようお願いします。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50540" y="3429000"/>
            <a:ext cx="1184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・当日はチームごとに着席し、実習室設置の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PC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から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オンラインでの大会参加となります。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692400" y="116029"/>
            <a:ext cx="93391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金曜</a:t>
            </a:r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4</a:t>
            </a:r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5</a:t>
            </a:r>
            <a:r>
              <a:rPr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時限</a:t>
            </a:r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目に講義がある人</a:t>
            </a:r>
            <a:endParaRPr kumimoji="1" lang="ja-JP" altLang="en-US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07267" y="2376436"/>
            <a:ext cx="111774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・各自でその授業の担当教員に代替措置が可能か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事前に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確認すること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507268" y="1355941"/>
            <a:ext cx="11177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・大学側より公式な特別措置はない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表彰について</a:t>
            </a:r>
            <a:endParaRPr kumimoji="1" lang="ja-JP" altLang="en-US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50540" y="1026686"/>
            <a:ext cx="1149091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優勝</a:t>
            </a:r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明治大学内における</a:t>
            </a:r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位</a:t>
            </a:r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lang="en-US" altLang="ja-JP" sz="3600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			3000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円分相当の副賞</a:t>
            </a:r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×3</a:t>
            </a:r>
            <a:endParaRPr lang="en-US" altLang="ja-JP" sz="3600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準優勝</a:t>
            </a:r>
            <a:r>
              <a:rPr lang="en-US" altLang="ja-JP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明治大学内における</a:t>
            </a:r>
            <a:r>
              <a:rPr lang="en-US" altLang="ja-JP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2</a:t>
            </a:r>
            <a:r>
              <a:rPr lang="ja-JP" altLang="en-US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位</a:t>
            </a:r>
            <a:r>
              <a:rPr lang="en-US" altLang="ja-JP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lang="en-US" altLang="ja-JP" sz="3600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　　</a:t>
            </a:r>
            <a:r>
              <a:rPr lang="en-US" altLang="ja-JP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2000</a:t>
            </a:r>
            <a:r>
              <a:rPr lang="ja-JP" altLang="en-US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円分相当の副賞</a:t>
            </a:r>
            <a:r>
              <a:rPr lang="en-US" altLang="ja-JP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×3</a:t>
            </a:r>
            <a:endParaRPr lang="en-US" altLang="ja-JP" sz="3600" dirty="0">
              <a:solidFill>
                <a:srgbClr val="00B0F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en-US" altLang="ja-JP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3</a:t>
            </a:r>
            <a:r>
              <a:rPr lang="ja-JP" altLang="en-US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位</a:t>
            </a:r>
            <a:r>
              <a:rPr lang="en-US" altLang="ja-JP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明治大学内における</a:t>
            </a:r>
            <a:r>
              <a:rPr lang="en-US" altLang="ja-JP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3</a:t>
            </a:r>
            <a:r>
              <a:rPr lang="ja-JP" altLang="en-US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位</a:t>
            </a:r>
            <a:r>
              <a:rPr lang="en-US" altLang="ja-JP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lang="en-US" altLang="ja-JP" sz="3600" dirty="0">
              <a:solidFill>
                <a:srgbClr val="00B05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　　</a:t>
            </a:r>
            <a:r>
              <a:rPr lang="en-US" altLang="ja-JP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1000</a:t>
            </a:r>
            <a:r>
              <a:rPr lang="ja-JP" altLang="en-US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円分相当の副賞</a:t>
            </a:r>
            <a:r>
              <a:rPr lang="en-US" altLang="ja-JP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×3</a:t>
            </a:r>
            <a:endParaRPr lang="en-US" altLang="ja-JP" sz="3600" dirty="0">
              <a:solidFill>
                <a:srgbClr val="00B05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solidFill>
                  <a:srgbClr val="9966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ピタリ賞</a:t>
            </a:r>
            <a:r>
              <a:rPr lang="en-US" altLang="ja-JP" sz="3600" dirty="0">
                <a:solidFill>
                  <a:srgbClr val="9966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solidFill>
                  <a:srgbClr val="9966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全体順位予想が最も近かったチーム</a:t>
            </a:r>
            <a:r>
              <a:rPr lang="en-US" altLang="ja-JP" sz="3600" dirty="0">
                <a:solidFill>
                  <a:srgbClr val="9966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lang="en-US" altLang="ja-JP" sz="3600" dirty="0">
              <a:solidFill>
                <a:srgbClr val="9966FF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en-US" altLang="ja-JP" sz="3600" dirty="0">
                <a:solidFill>
                  <a:srgbClr val="9966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			</a:t>
            </a:r>
            <a:r>
              <a:rPr lang="ja-JP" altLang="en-US" sz="3600" dirty="0">
                <a:solidFill>
                  <a:srgbClr val="9966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当日のお楽しみ</a:t>
            </a:r>
            <a:endParaRPr lang="en-US" altLang="ja-JP" sz="3600" dirty="0">
              <a:solidFill>
                <a:srgbClr val="9966FF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50539" y="5552000"/>
            <a:ext cx="114909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※</a:t>
            </a:r>
            <a:r>
              <a:rPr lang="ja-JP" altLang="en-US" sz="24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但し、副賞授与は最低</a:t>
            </a:r>
            <a:r>
              <a:rPr lang="en-US" altLang="ja-JP" sz="24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ja-JP" altLang="en-US" sz="24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問正答したこと</a:t>
            </a:r>
            <a:r>
              <a:rPr lang="ja-JP" altLang="en-US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が</a:t>
            </a:r>
            <a:r>
              <a:rPr lang="ja-JP" altLang="en-US" sz="24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条件です。</a:t>
            </a:r>
            <a:endParaRPr lang="en-US" altLang="ja-JP" sz="24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en-US" altLang="ja-JP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※</a:t>
            </a:r>
            <a:r>
              <a:rPr lang="ja-JP" altLang="en-US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ピタリ賞は</a:t>
            </a:r>
            <a:r>
              <a:rPr lang="en-US" altLang="ja-JP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2</a:t>
            </a:r>
            <a:r>
              <a:rPr lang="ja-JP" altLang="en-US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チーム以上発生した場合、より順位の高いチームに授与します。</a:t>
            </a:r>
            <a:endParaRPr lang="en-US" altLang="ja-JP" sz="24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en-US" altLang="ja-JP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※</a:t>
            </a:r>
            <a:r>
              <a:rPr lang="ja-JP" altLang="en-US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同一チームに複数の賞は授与しません。繰り下げて別のチームに授与致します。</a:t>
            </a:r>
            <a:endParaRPr lang="en-US" altLang="ja-JP" sz="24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参加登録会</a:t>
            </a:r>
            <a:endParaRPr kumimoji="1" lang="ja-JP" altLang="en-US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1181110" y="2456768"/>
            <a:ext cx="98297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開催日時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: 6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月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13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日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木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 12:45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～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13:10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開催場所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: 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理工学部第二校舎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6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号館 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5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階 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6517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お問い合わせ</a:t>
            </a:r>
            <a:endParaRPr kumimoji="1" lang="ja-JP" altLang="en-US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471935" y="2705725"/>
            <a:ext cx="92481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学生代表　西郷智博</a:t>
            </a:r>
            <a:r>
              <a:rPr lang="en-US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(</a:t>
            </a:r>
            <a:r>
              <a:rPr lang="ja-JP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情報科学科</a:t>
            </a:r>
            <a:r>
              <a:rPr lang="en-US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4</a:t>
            </a:r>
            <a:r>
              <a:rPr lang="ja-JP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年</a:t>
            </a:r>
            <a:r>
              <a:rPr lang="en-US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)</a:t>
            </a:r>
            <a:endParaRPr lang="en-US" altLang="ja-JP" sz="4400" kern="100" dirty="0"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  <a:cs typeface="Times New Roman" panose="02020603050405020304" pitchFamily="18" charset="0"/>
            </a:endParaRPr>
          </a:p>
          <a:p>
            <a:r>
              <a:rPr lang="ja-JP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【</a:t>
            </a:r>
            <a:r>
              <a:rPr lang="en-US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e-mail</a:t>
            </a:r>
            <a:r>
              <a:rPr lang="ja-JP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】 </a:t>
            </a:r>
            <a:r>
              <a:rPr lang="en-US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meijiicpc23@gmail.com</a:t>
            </a:r>
            <a:endParaRPr lang="ja-JP" altLang="ja-JP" sz="4400" kern="100" dirty="0"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1675</Words>
  <Application>WPS Presentation</Application>
  <PresentationFormat>ワイド画面</PresentationFormat>
  <Paragraphs>161</Paragraphs>
  <Slides>17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ＭＳ Ｐゴシック</vt:lpstr>
      <vt:lpstr>Wingdings</vt:lpstr>
      <vt:lpstr>Arial Black</vt:lpstr>
      <vt:lpstr>ＭＳ ゴシック</vt:lpstr>
      <vt:lpstr>Consolas</vt:lpstr>
      <vt:lpstr>ＭＳ Ｐゴシック</vt:lpstr>
      <vt:lpstr>Times New Roman</vt:lpstr>
      <vt:lpstr>Microsoft YaHei</vt:lpstr>
      <vt:lpstr>游ゴシック Light</vt:lpstr>
      <vt:lpstr>游ゴシック</vt:lpstr>
      <vt:lpstr>Office テーマ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西郷 智博</dc:creator>
  <cp:lastModifiedBy>taw</cp:lastModifiedBy>
  <cp:revision>55</cp:revision>
  <dcterms:created xsi:type="dcterms:W3CDTF">2021-12-06T17:38:00Z</dcterms:created>
  <dcterms:modified xsi:type="dcterms:W3CDTF">2025-06-04T13:08:07Z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1041-10.8.0.5771</vt:lpwstr>
  </property>
</Properties>
</file>