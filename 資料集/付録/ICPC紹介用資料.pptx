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2a4bd9d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2a4bd9d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2a4bd9d02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42a4bd9d02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2a4bd9d0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2a4bd9d0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2a4bd9d0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2a4bd9d0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2a4bd9d0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42a4bd9d0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2a4bd9d0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42a4bd9d0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2a4bd9d0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2a4bd9d0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ICPC 2025参加者募集</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ICPC</a:t>
            </a:r>
            <a:r>
              <a:rPr lang="ja"/>
              <a:t>とは?</a:t>
            </a:r>
            <a:endParaRPr/>
          </a:p>
        </p:txBody>
      </p:sp>
      <p:sp>
        <p:nvSpPr>
          <p:cNvPr id="92" name="Google Shape;92;p14"/>
          <p:cNvSpPr txBox="1"/>
          <p:nvPr>
            <p:ph idx="1" type="body"/>
          </p:nvPr>
        </p:nvSpPr>
        <p:spPr>
          <a:xfrm>
            <a:off x="727650" y="1853850"/>
            <a:ext cx="7688700" cy="305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国際大学対抗プログラミングコンテストのことです。今回募集するオンライン予選では、3人1組でチームを作り1台のコンピュータとともに、6~9問程度の問題を3時間で多く早く正確に解けるかを競う。</a:t>
            </a:r>
            <a:endParaRPr/>
          </a:p>
          <a:p>
            <a:pPr indent="0" lvl="0" marL="0" rtl="0" algn="l">
              <a:spcBef>
                <a:spcPts val="1200"/>
              </a:spcBef>
              <a:spcAft>
                <a:spcPts val="0"/>
              </a:spcAft>
              <a:buNone/>
            </a:pPr>
            <a:r>
              <a:rPr lang="ja"/>
              <a:t>大学内で開催する国内インターネット予選で優秀な成績を残すと、アジア地区大会に進むことができる。昨年は1チームアジア予選に出場した。</a:t>
            </a:r>
            <a:endParaRPr/>
          </a:p>
          <a:p>
            <a:pPr indent="0" lvl="0" marL="0" rtl="0" algn="l">
              <a:spcBef>
                <a:spcPts val="1200"/>
              </a:spcBef>
              <a:spcAft>
                <a:spcPts val="0"/>
              </a:spcAft>
              <a:buNone/>
            </a:pPr>
            <a:r>
              <a:rPr lang="ja"/>
              <a:t>今回募集する国内オンライン予選は7月中旬ごろに本大学内で開催される。</a:t>
            </a:r>
            <a:endParaRPr/>
          </a:p>
          <a:p>
            <a:pPr indent="0" lvl="0" marL="0" rtl="0" algn="l">
              <a:spcBef>
                <a:spcPts val="1200"/>
              </a:spcBef>
              <a:spcAft>
                <a:spcPts val="0"/>
              </a:spcAft>
              <a:buNone/>
            </a:pPr>
            <a:r>
              <a:rPr lang="ja"/>
              <a:t>また、例年この大学内オンライン予選では</a:t>
            </a:r>
            <a:r>
              <a:rPr lang="ja"/>
              <a:t>毎年上位3チームと1年生最優秀チームに</a:t>
            </a:r>
            <a:r>
              <a:rPr lang="ja"/>
              <a:t>に褒賞が送られます。</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どんな問題が出るのか</a:t>
            </a:r>
            <a:endParaRPr/>
          </a:p>
        </p:txBody>
      </p:sp>
      <p:sp>
        <p:nvSpPr>
          <p:cNvPr id="98" name="Google Shape;98;p15"/>
          <p:cNvSpPr txBox="1"/>
          <p:nvPr>
            <p:ph idx="1" type="body"/>
          </p:nvPr>
        </p:nvSpPr>
        <p:spPr>
          <a:xfrm>
            <a:off x="729450" y="1853850"/>
            <a:ext cx="7688700" cy="28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低難度の問題だと以下のような問題</a:t>
            </a:r>
            <a:endParaRPr/>
          </a:p>
          <a:p>
            <a:pPr indent="0" lvl="0" marL="101600" marR="101600" rtl="0" algn="l">
              <a:spcBef>
                <a:spcPts val="1200"/>
              </a:spcBef>
              <a:spcAft>
                <a:spcPts val="0"/>
              </a:spcAft>
              <a:buNone/>
            </a:pPr>
            <a:r>
              <a:rPr lang="ja"/>
              <a:t>ICQC (International Collegiate Quiz Contest) は，複数のチームがクイズに解答する速さを競うコンテストである． 優勝はもちろん最も早く正答したチームである． さらに今年の大会では，正答したのがコンテスト開始から 2023 秒後に最も近かったチームにスポンサー賞が贈られる．</a:t>
            </a:r>
            <a:endParaRPr/>
          </a:p>
          <a:p>
            <a:pPr indent="0" lvl="0" marL="101600" marR="101600" rtl="0" algn="l">
              <a:spcBef>
                <a:spcPts val="1200"/>
              </a:spcBef>
              <a:spcAft>
                <a:spcPts val="0"/>
              </a:spcAft>
              <a:buNone/>
            </a:pPr>
            <a:r>
              <a:rPr lang="ja"/>
              <a:t>全参加チームについてのコンテスト開始から正答までの経過時間の一覧を与えられたとき，どのチームにスポンサー賞を贈るのかを決めなさい．</a:t>
            </a:r>
            <a:endParaRPr/>
          </a:p>
          <a:p>
            <a:pPr indent="0" lvl="0" marL="0" rtl="0" algn="l">
              <a:spcBef>
                <a:spcPts val="1200"/>
              </a:spcBef>
              <a:spcAft>
                <a:spcPts val="0"/>
              </a:spcAft>
              <a:buNone/>
            </a:pPr>
            <a:r>
              <a:rPr lang="ja" sz="2000"/>
              <a:t>-&gt;</a:t>
            </a:r>
            <a:r>
              <a:rPr lang="ja" sz="2000">
                <a:solidFill>
                  <a:schemeClr val="dk2"/>
                </a:solidFill>
              </a:rPr>
              <a:t>与えられた数列の中で一番2023に近い数を選ぶだけの問題</a:t>
            </a:r>
            <a:endParaRPr sz="2000">
              <a:solidFill>
                <a:schemeClr val="dk2"/>
              </a:solidFill>
            </a:endParaRPr>
          </a:p>
          <a:p>
            <a:pPr indent="0" lvl="0" marL="0" rtl="0" algn="l">
              <a:spcBef>
                <a:spcPts val="1200"/>
              </a:spcBef>
              <a:spcAft>
                <a:spcPts val="1200"/>
              </a:spcAft>
              <a:buNone/>
            </a:pPr>
            <a:r>
              <a:rPr lang="ja">
                <a:solidFill>
                  <a:srgbClr val="666666"/>
                </a:solidFill>
              </a:rPr>
              <a:t>一年生だけのチームでも例年2問程度解けている</a:t>
            </a:r>
            <a:endParaRPr>
              <a:solidFill>
                <a:srgbClr val="6666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参加者を募集する意義</a:t>
            </a:r>
            <a:endParaRPr/>
          </a:p>
        </p:txBody>
      </p:sp>
      <p:sp>
        <p:nvSpPr>
          <p:cNvPr id="104" name="Google Shape;104;p16"/>
          <p:cNvSpPr txBox="1"/>
          <p:nvPr>
            <p:ph idx="1" type="body"/>
          </p:nvPr>
        </p:nvSpPr>
        <p:spPr>
          <a:xfrm>
            <a:off x="729450" y="2346375"/>
            <a:ext cx="7688700" cy="269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・3人チーム参加であるため、人数を集めづらい</a:t>
            </a:r>
            <a:endParaRPr/>
          </a:p>
          <a:p>
            <a:pPr indent="0" lvl="0" marL="0" rtl="0" algn="l">
              <a:spcBef>
                <a:spcPts val="1200"/>
              </a:spcBef>
              <a:spcAft>
                <a:spcPts val="0"/>
              </a:spcAft>
              <a:buNone/>
            </a:pPr>
            <a:r>
              <a:rPr lang="ja"/>
              <a:t>・規約上コーチ役や監督役をつける必要があるため</a:t>
            </a:r>
            <a:endParaRPr/>
          </a:p>
          <a:p>
            <a:pPr indent="0" lvl="0" marL="0" rtl="0" algn="l">
              <a:spcBef>
                <a:spcPts val="1200"/>
              </a:spcBef>
              <a:spcAft>
                <a:spcPts val="0"/>
              </a:spcAft>
              <a:buNone/>
            </a:pPr>
            <a:r>
              <a:rPr lang="ja"/>
              <a:t>・競技プログラミングそのものへの奨励、また情報科学科に入った学生へのアルゴリズムを用いた問題解決の練習、体験の機会への奨励</a:t>
            </a:r>
            <a:endParaRPr/>
          </a:p>
          <a:p>
            <a:pPr indent="0" lvl="0" marL="0" rtl="0" algn="l">
              <a:spcBef>
                <a:spcPts val="1200"/>
              </a:spcBef>
              <a:spcAft>
                <a:spcPts val="0"/>
              </a:spcAft>
              <a:buNone/>
            </a:pPr>
            <a:r>
              <a:rPr lang="ja"/>
              <a:t>・情科内での人間関係の構築に少しでも役に立てたら嬉しい</a:t>
            </a:r>
            <a:endParaRPr/>
          </a:p>
          <a:p>
            <a:pPr indent="0" lvl="0" marL="0" rtl="0" algn="l">
              <a:spcBef>
                <a:spcPts val="1200"/>
              </a:spcBef>
              <a:spcAft>
                <a:spcPts val="1200"/>
              </a:spcAft>
              <a:buNone/>
            </a:pPr>
            <a:r>
              <a:rPr lang="ja"/>
              <a:t>・ICPCを通して得た知見で来年以降のICPCや学習に役立ててほしい</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参加するときの注意</a:t>
            </a:r>
            <a:endParaRPr/>
          </a:p>
        </p:txBody>
      </p:sp>
      <p:sp>
        <p:nvSpPr>
          <p:cNvPr id="110" name="Google Shape;110;p17"/>
          <p:cNvSpPr txBox="1"/>
          <p:nvPr>
            <p:ph idx="1" type="body"/>
          </p:nvPr>
        </p:nvSpPr>
        <p:spPr>
          <a:xfrm>
            <a:off x="729450" y="2103475"/>
            <a:ext cx="7688700" cy="2261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ja"/>
              <a:t>・1大学の出場人数に上限はない</a:t>
            </a:r>
            <a:endParaRPr/>
          </a:p>
          <a:p>
            <a:pPr indent="0" lvl="0" marL="0" rtl="0" algn="l">
              <a:spcBef>
                <a:spcPts val="1200"/>
              </a:spcBef>
              <a:spcAft>
                <a:spcPts val="0"/>
              </a:spcAft>
              <a:buNone/>
            </a:pPr>
            <a:r>
              <a:rPr lang="ja"/>
              <a:t>・参加費無し</a:t>
            </a:r>
            <a:endParaRPr/>
          </a:p>
          <a:p>
            <a:pPr indent="0" lvl="0" marL="0" rtl="0" algn="l">
              <a:spcBef>
                <a:spcPts val="1200"/>
              </a:spcBef>
              <a:spcAft>
                <a:spcPts val="0"/>
              </a:spcAft>
              <a:buNone/>
            </a:pPr>
            <a:r>
              <a:rPr lang="ja"/>
              <a:t>・3人未満での出場は不可</a:t>
            </a:r>
            <a:endParaRPr/>
          </a:p>
          <a:p>
            <a:pPr indent="0" lvl="0" marL="0" rtl="0" algn="l">
              <a:spcBef>
                <a:spcPts val="1200"/>
              </a:spcBef>
              <a:spcAft>
                <a:spcPts val="0"/>
              </a:spcAft>
              <a:buNone/>
            </a:pPr>
            <a:r>
              <a:rPr lang="ja"/>
              <a:t>・開催曜日が授業期間の平日に行われるため、その日の授業は欠席する必要がある</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募集時期、本番までの流れ</a:t>
            </a:r>
            <a:endParaRPr/>
          </a:p>
        </p:txBody>
      </p:sp>
      <p:sp>
        <p:nvSpPr>
          <p:cNvPr id="116" name="Google Shape;116;p18"/>
          <p:cNvSpPr txBox="1"/>
          <p:nvPr>
            <p:ph idx="1" type="body"/>
          </p:nvPr>
        </p:nvSpPr>
        <p:spPr>
          <a:xfrm>
            <a:off x="729450" y="2078875"/>
            <a:ext cx="7688700" cy="286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ICPC2025</a:t>
            </a:r>
            <a:r>
              <a:rPr lang="ja"/>
              <a:t>の情報が更新されるのが5月ごろと予想される、その時期にoh-o meiji上に説明会の情報を掲載。</a:t>
            </a:r>
            <a:endParaRPr/>
          </a:p>
          <a:p>
            <a:pPr indent="0" lvl="0" marL="0" rtl="0" algn="l">
              <a:spcBef>
                <a:spcPts val="1200"/>
              </a:spcBef>
              <a:spcAft>
                <a:spcPts val="0"/>
              </a:spcAft>
              <a:buNone/>
            </a:pPr>
            <a:r>
              <a:rPr lang="ja"/>
              <a:t>・説明会情報開示 5月中旬頃</a:t>
            </a:r>
            <a:endParaRPr/>
          </a:p>
          <a:p>
            <a:pPr indent="0" lvl="0" marL="0" rtl="0" algn="l">
              <a:spcBef>
                <a:spcPts val="1200"/>
              </a:spcBef>
              <a:spcAft>
                <a:spcPts val="0"/>
              </a:spcAft>
              <a:buNone/>
            </a:pPr>
            <a:r>
              <a:rPr lang="ja"/>
              <a:t>・説明会 5月下旬～6月上旬 より詳しい情報の開示</a:t>
            </a:r>
            <a:endParaRPr/>
          </a:p>
          <a:p>
            <a:pPr indent="0" lvl="0" marL="0" rtl="0" algn="l">
              <a:spcBef>
                <a:spcPts val="1200"/>
              </a:spcBef>
              <a:spcAft>
                <a:spcPts val="0"/>
              </a:spcAft>
              <a:buNone/>
            </a:pPr>
            <a:r>
              <a:rPr lang="ja"/>
              <a:t>・登録会 6月上旬 大会メンバーの決定、登録</a:t>
            </a:r>
            <a:endParaRPr/>
          </a:p>
          <a:p>
            <a:pPr indent="0" lvl="0" marL="0" rtl="0" algn="l">
              <a:spcBef>
                <a:spcPts val="1200"/>
              </a:spcBef>
              <a:spcAft>
                <a:spcPts val="0"/>
              </a:spcAft>
              <a:buNone/>
            </a:pPr>
            <a:r>
              <a:rPr lang="ja"/>
              <a:t>・(練習会) 6月中旬 </a:t>
            </a:r>
            <a:endParaRPr/>
          </a:p>
          <a:p>
            <a:pPr indent="0" lvl="0" marL="0" rtl="0" algn="l">
              <a:spcBef>
                <a:spcPts val="1200"/>
              </a:spcBef>
              <a:spcAft>
                <a:spcPts val="1200"/>
              </a:spcAft>
              <a:buNone/>
            </a:pPr>
            <a:r>
              <a:rPr lang="ja"/>
              <a:t>・大会本番 7月中旬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その他情報について</a:t>
            </a:r>
            <a:endParaRPr/>
          </a:p>
        </p:txBody>
      </p:sp>
      <p:sp>
        <p:nvSpPr>
          <p:cNvPr id="122" name="Google Shape;122;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4/9</a:t>
            </a:r>
            <a:r>
              <a:rPr lang="ja"/>
              <a:t>の学生生活案内ガイダンスが実施される日に、学生会館2階で競技プログラミングサークル、「Integrated Quality」で相談、質問を受け付けます。</a:t>
            </a:r>
            <a:endParaRPr/>
          </a:p>
          <a:p>
            <a:pPr indent="0" lvl="0" marL="0" rtl="0" algn="l">
              <a:spcBef>
                <a:spcPts val="1200"/>
              </a:spcBef>
              <a:spcAft>
                <a:spcPts val="0"/>
              </a:spcAft>
              <a:buNone/>
            </a:pPr>
            <a:r>
              <a:rPr lang="ja"/>
              <a:t>昨年の大会の様子やより高難易度の問題、勉強方法についてなど質問お待ちしております。</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ご清聴ありがとうございました</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